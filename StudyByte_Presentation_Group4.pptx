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0C648-589E-4CAA-8509-1D21F18D8EBE}">
  <a:tblStyle styleId="{E270C648-589E-4CAA-8509-1D21F18D8E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6" name="Google Shape;566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9" name="Google Shape;599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7" name="Google Shape;677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0" name="Google Shape;710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0" y="3931920"/>
            <a:ext cx="9144000" cy="228600"/>
          </a:xfrm>
          <a:prstGeom prst="rect">
            <a:avLst/>
          </a:prstGeom>
          <a:solidFill>
            <a:srgbClr val="2DC4B2"/>
          </a:solidFill>
          <a:ln w="12700" cap="flat" cmpd="sng">
            <a:solidFill>
              <a:srgbClr val="2DC4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14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32004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417320" y="320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East West University  |  Dept. of CSE  |  CSE 347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StudyByte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Peer-to-Peer Micro-Tutoring Platform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C4D8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AC4D8"/>
                </a:solidFill>
                <a:latin typeface="Calibri"/>
                <a:ea typeface="Calibri"/>
                <a:cs typeface="Calibri"/>
                <a:sym typeface="Calibri"/>
              </a:rPr>
              <a:t>Group 04  |  Spring 2026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Belal Hossain · Esrat Jahan Samiya · Md. Majharul Islam · Md. Jakaria Masud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Supervisor: Dr. Hosney Jahan, Assistant Professor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is StudyByte?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A web-based </a:t>
            </a:r>
            <a:r>
              <a:rPr lang="en-US" sz="14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Peer-to-Peer Micro-Tutoring</a:t>
            </a:r>
            <a:r>
              <a:rPr lang="en-US" sz="14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 platform for university students to offer and receive topic-based tutoring through a structured digital marketplace.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74320" y="2011680"/>
            <a:ext cx="2743200" cy="256032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74320" y="2011680"/>
            <a:ext cx="54864" cy="256032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02336" y="21031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🎓 Tutor Side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02336" y="2359152"/>
            <a:ext cx="2542032" cy="212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Submit grade report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List micro-topics &amp; set price (tokens)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Conduct sessions &amp; earn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00400" y="2011680"/>
            <a:ext cx="2743200" cy="256032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200400" y="2011680"/>
            <a:ext cx="54864" cy="256032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328416" y="21031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📚 Learner Side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328416" y="2359152"/>
            <a:ext cx="2542032" cy="212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Browse marketplace by topic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Book sessions using tokens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Rate &amp; review tutors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126480" y="2011680"/>
            <a:ext cx="2743200" cy="256032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126480" y="2011680"/>
            <a:ext cx="54864" cy="256032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254496" y="210312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🔐 Platform 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254496" y="2359152"/>
            <a:ext cx="2542032" cy="212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Role-based dashboards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Escrow payment protection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Admin monitoring &amp; disputes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Existing Platforms &amp; Research Gap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" name="Google Shape;51;p5"/>
          <p:cNvGraphicFramePr/>
          <p:nvPr/>
        </p:nvGraphicFramePr>
        <p:xfrm>
          <a:off x="274320" y="731520"/>
          <a:ext cx="8595350" cy="3401550"/>
        </p:xfrm>
        <a:graphic>
          <a:graphicData uri="http://schemas.openxmlformats.org/drawingml/2006/table">
            <a:tbl>
              <a:tblPr>
                <a:noFill/>
                <a:tableStyleId>{E270C648-589E-4CAA-8509-1D21F18D8EBE}</a:tableStyleId>
              </a:tblPr>
              <a:tblGrid>
                <a:gridCol w="219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 / Study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Strength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Gap Addressed by StudyByte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Chegg / Wyzant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On-demand tutoring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peer-driven; costly for students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Upwork (freelance)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marketplace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academic verification or escrow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MOOC (Coursera/edX)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Structured learning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real-time peer interaction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P2P Learning Research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Proven peer learning benefits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formal payment or trust mechanism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StudyByte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Verified peer tutors + escrow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3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strike="noStrike" cap="none">
                          <a:solidFill>
                            <a:srgbClr val="1A2E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Bridges gap for university context</a:t>
                      </a:r>
                      <a:endParaRPr sz="12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0DCE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" name="Google Shape;52;p5"/>
          <p:cNvSpPr/>
          <p:nvPr/>
        </p:nvSpPr>
        <p:spPr>
          <a:xfrm>
            <a:off x="274320" y="731520"/>
            <a:ext cx="8595360" cy="566928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320040" y="731520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/ Study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2514600" y="731520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Strength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892040" y="731520"/>
            <a:ext cx="3977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 Addressed by StudyByte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74320" y="1298448"/>
            <a:ext cx="8595360" cy="56692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20040" y="1298448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Chegg / Wyzant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2514600" y="1298448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On-demand tutoring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892040" y="1298448"/>
            <a:ext cx="3977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Not peer-driven; costly for students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74320" y="1865376"/>
            <a:ext cx="859536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20040" y="1865376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Upwork (freelance)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514600" y="1865376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Skill marketplace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892040" y="1865376"/>
            <a:ext cx="3977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No academic verification or escrow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74320" y="2432304"/>
            <a:ext cx="8595360" cy="56692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320040" y="2432304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MOOC (Coursera/edX)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2514600" y="2432304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Structured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892040" y="2432304"/>
            <a:ext cx="3977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No real-time peer interaction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74320" y="2999232"/>
            <a:ext cx="8595360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320040" y="2999232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P2P Learning Research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514600" y="2999232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Proven peer learning benefits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892040" y="2999232"/>
            <a:ext cx="3977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No formal payment or trust mechanism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E0F4F1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320040" y="3566160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StudyByte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514600" y="3566160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Verified peer tutors + escrow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892040" y="3566160"/>
            <a:ext cx="39776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Bridges gap for university context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Challenges in Academic Peer Learning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74320" y="1051560"/>
            <a:ext cx="4160520" cy="16916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74320" y="1051560"/>
            <a:ext cx="4160520" cy="54864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11480" y="116128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❌  No Trusted Peer Platform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11480" y="1527048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Students lack a verified, structured space to offer or receive academic tutoring.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709160" y="1051560"/>
            <a:ext cx="4160520" cy="16916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709160" y="1051560"/>
            <a:ext cx="4160520" cy="54864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846320" y="116128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💸  Insecure Payments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846320" y="1527048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No reliable escrow mechanism causes mistrust—tutors may not deliver after payment.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74320" y="2926080"/>
            <a:ext cx="4160520" cy="16916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274320" y="2926080"/>
            <a:ext cx="4160520" cy="54864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11480" y="303580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🔍  Unverified Tutor Quality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11480" y="3401568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Existing informal channels have no grade verification or rating systems.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709160" y="2926080"/>
            <a:ext cx="4160520" cy="16916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4709160" y="2926080"/>
            <a:ext cx="4160520" cy="54864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846320" y="303580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📅  Scheduling Conflicts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846320" y="3401568"/>
            <a:ext cx="3886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Manual coordination via messaging apps is unstructured and error-prone.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What StudyByte Sets Out to Achieve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74320" y="1005840"/>
            <a:ext cx="2743200" cy="1737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36576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65760" y="15544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Secure Academic Marketplace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65760" y="19659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A verified, trusted space for university peer tutoring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154680" y="1005840"/>
            <a:ext cx="2743200" cy="1737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324612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246120" y="15544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Structured Booking &amp; Scheduling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246120" y="19659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Prevent conflicts with availability-based session booking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035040" y="1005840"/>
            <a:ext cx="2743200" cy="1737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12648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126480" y="15544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Token-Based Escrow Payment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126480" y="196596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Protect both parties—tokens held until session verified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74320" y="2926080"/>
            <a:ext cx="2743200" cy="1737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36576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365760" y="34747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Quality Assurance via Ratings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65760" y="388620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Rating &amp; review system maintains tutor accountability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154680" y="2926080"/>
            <a:ext cx="2743200" cy="1737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324612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246120" y="34747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Admin Governance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246120" y="388620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Monitor, approve, and manage disputes platform-wide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035040" y="2926080"/>
            <a:ext cx="2743200" cy="1737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126480" y="34747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Simple, Accessible Interface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126480" y="3886200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Mobile-responsive UI for all university students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System / Methodology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Platform Architecture &amp; Flow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1554480" y="2331720"/>
            <a:ext cx="274320" cy="0"/>
          </a:xfrm>
          <a:prstGeom prst="straightConnector1">
            <a:avLst/>
          </a:prstGeom>
          <a:noFill/>
          <a:ln w="254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2" name="Google Shape;142;p8"/>
          <p:cNvSpPr/>
          <p:nvPr/>
        </p:nvSpPr>
        <p:spPr>
          <a:xfrm>
            <a:off x="228600" y="1188720"/>
            <a:ext cx="1325880" cy="13716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228600" y="118872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28600" y="162763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Register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28600" y="20116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University email + role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8"/>
          <p:cNvCxnSpPr/>
          <p:nvPr/>
        </p:nvCxnSpPr>
        <p:spPr>
          <a:xfrm>
            <a:off x="3154680" y="2331720"/>
            <a:ext cx="274320" cy="0"/>
          </a:xfrm>
          <a:prstGeom prst="straightConnector1">
            <a:avLst/>
          </a:prstGeom>
          <a:noFill/>
          <a:ln w="254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8"/>
          <p:cNvSpPr/>
          <p:nvPr/>
        </p:nvSpPr>
        <p:spPr>
          <a:xfrm>
            <a:off x="1828800" y="1188720"/>
            <a:ext cx="1325880" cy="13716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1828800" y="118872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828800" y="162763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Marketplace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828800" y="20116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Browse / list topics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8"/>
          <p:cNvCxnSpPr/>
          <p:nvPr/>
        </p:nvCxnSpPr>
        <p:spPr>
          <a:xfrm>
            <a:off x="4754880" y="2331720"/>
            <a:ext cx="274320" cy="0"/>
          </a:xfrm>
          <a:prstGeom prst="straightConnector1">
            <a:avLst/>
          </a:prstGeom>
          <a:noFill/>
          <a:ln w="254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p8"/>
          <p:cNvSpPr/>
          <p:nvPr/>
        </p:nvSpPr>
        <p:spPr>
          <a:xfrm>
            <a:off x="3429000" y="1188720"/>
            <a:ext cx="1325880" cy="13716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429000" y="118872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429000" y="162763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Book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429000" y="20116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Select slot &amp; confirm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8"/>
          <p:cNvCxnSpPr/>
          <p:nvPr/>
        </p:nvCxnSpPr>
        <p:spPr>
          <a:xfrm>
            <a:off x="6355080" y="2331720"/>
            <a:ext cx="274320" cy="0"/>
          </a:xfrm>
          <a:prstGeom prst="straightConnector1">
            <a:avLst/>
          </a:prstGeom>
          <a:noFill/>
          <a:ln w="254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p8"/>
          <p:cNvSpPr/>
          <p:nvPr/>
        </p:nvSpPr>
        <p:spPr>
          <a:xfrm>
            <a:off x="5029200" y="1188720"/>
            <a:ext cx="1325880" cy="137160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029200" y="118872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029200" y="162763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Escrow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029200" y="20116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Tokens held securely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8"/>
          <p:cNvCxnSpPr/>
          <p:nvPr/>
        </p:nvCxnSpPr>
        <p:spPr>
          <a:xfrm>
            <a:off x="7955280" y="2331720"/>
            <a:ext cx="274320" cy="0"/>
          </a:xfrm>
          <a:prstGeom prst="straightConnector1">
            <a:avLst/>
          </a:prstGeom>
          <a:noFill/>
          <a:ln w="254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8"/>
          <p:cNvSpPr/>
          <p:nvPr/>
        </p:nvSpPr>
        <p:spPr>
          <a:xfrm>
            <a:off x="6629400" y="1188720"/>
            <a:ext cx="1325880" cy="13716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6629400" y="118872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629400" y="162763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629400" y="20116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Video + code verify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8229600" y="1188720"/>
            <a:ext cx="1325880" cy="13716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8229600" y="1188720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229600" y="1627632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Pay &amp; Rate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8229600" y="2011680"/>
            <a:ext cx="1325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Release tokens + review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74320" y="3063240"/>
            <a:ext cx="1600200" cy="45720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274320" y="306324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HTML / CSS / JavaScript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011680" y="3063240"/>
            <a:ext cx="1600200" cy="45720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2011680" y="306324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PHP / Python (Backend)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749040" y="3063240"/>
            <a:ext cx="1600200" cy="45720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749040" y="306324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MySQL (Database)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0" y="3063240"/>
            <a:ext cx="1600200" cy="45720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486400" y="306324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bKash (Withdrawal)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223760" y="3063240"/>
            <a:ext cx="1600200" cy="45720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223760" y="306324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Token-based Wallet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74320" y="370332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Out of Scope: Built-in video conferencing · External banking gateway · Multi-institution deployment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 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274320" y="9144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274320" y="914400"/>
            <a:ext cx="54864" cy="192024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02336" y="1005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User Management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02336" y="12618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Register via university email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Secure login / logout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 roles: Learner, Tutor, Admin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Separate role-based dashboards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154680" y="9144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3154680" y="914400"/>
            <a:ext cx="54864" cy="192024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282696" y="1005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Marketplace &amp; Booking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3282696" y="12618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Tutors list micro-topics + set price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Filter by price, rating, urgency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Availability-based scheduling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No double booking of time slots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035040" y="9144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035040" y="914400"/>
            <a:ext cx="54864" cy="192024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6163056" y="1005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Payment &amp; Wallet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163056" y="12618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Token-based digital wallet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Tokens deducted on booking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Escrow holds until session ends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Release on meeting code validation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274320" y="29718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274320" y="2971800"/>
            <a:ext cx="54864" cy="192024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02336" y="30632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Session &amp; Rating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02336" y="33192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Unique meeting code per session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Code submission verifies completion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Learner rates &amp; reviews tutor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Auto-calculated average rating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154680" y="29718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3154680" y="2971800"/>
            <a:ext cx="54864" cy="192024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3282696" y="30632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Admin Control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282696" y="33192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Monitor users &amp; transactions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Manage disputes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Approve token withdrawals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Suspend suspicious accounts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035040" y="29718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035040" y="2971800"/>
            <a:ext cx="54864" cy="192024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163056" y="30632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Profile Management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163056" y="33192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Update profile info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Tutors add expertise topics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Store student ID &amp; department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Grade report verification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 Analysis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274320" y="9144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274320" y="914400"/>
            <a:ext cx="54864" cy="1920240"/>
          </a:xfrm>
          <a:prstGeom prst="rect">
            <a:avLst/>
          </a:prstGeom>
          <a:solidFill>
            <a:srgbClr val="2DC4B2"/>
          </a:solidFill>
          <a:ln w="12700" cap="flat" cmpd="sng">
            <a:solidFill>
              <a:srgbClr val="2DC4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02336" y="1005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⚡ Performance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02336" y="12618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Page load &lt; 2 seconds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500+ concurrent users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Wallet transactions &lt; 3 sec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154680" y="9144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3154680" y="914400"/>
            <a:ext cx="54864" cy="1920240"/>
          </a:xfrm>
          <a:prstGeom prst="rect">
            <a:avLst/>
          </a:prstGeom>
          <a:solidFill>
            <a:srgbClr val="2DC4B2"/>
          </a:solidFill>
          <a:ln w="12700" cap="flat" cmpd="sng">
            <a:solidFill>
              <a:srgbClr val="2DC4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282696" y="1005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🔒 Security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282696" y="12618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Role-based access control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Encrypted passwords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Only admin approves withdrawals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035040" y="9144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035040" y="914400"/>
            <a:ext cx="54864" cy="1920240"/>
          </a:xfrm>
          <a:prstGeom prst="rect">
            <a:avLst/>
          </a:prstGeom>
          <a:solidFill>
            <a:srgbClr val="2DC4B2"/>
          </a:solidFill>
          <a:ln w="12700" cap="flat" cmpd="sng">
            <a:solidFill>
              <a:srgbClr val="2DC4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6163056" y="10058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🔄 Reliability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163056" y="12618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99% system uptime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Escrow prevents payment loss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Daily database backups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274320" y="29718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274320" y="2971800"/>
            <a:ext cx="54864" cy="1920240"/>
          </a:xfrm>
          <a:prstGeom prst="rect">
            <a:avLst/>
          </a:prstGeom>
          <a:solidFill>
            <a:srgbClr val="2DC4B2"/>
          </a:solidFill>
          <a:ln w="12700" cap="flat" cmpd="sng">
            <a:solidFill>
              <a:srgbClr val="2DC4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02336" y="30632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📱 Usability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02336" y="33192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Simple, user-friendly UI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Booking in ≤ 5 steps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Clear error messages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154680" y="29718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154680" y="2971800"/>
            <a:ext cx="54864" cy="1920240"/>
          </a:xfrm>
          <a:prstGeom prst="rect">
            <a:avLst/>
          </a:prstGeom>
          <a:solidFill>
            <a:srgbClr val="2DC4B2"/>
          </a:solidFill>
          <a:ln w="12700" cap="flat" cmpd="sng">
            <a:solidFill>
              <a:srgbClr val="2DC4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3282696" y="30632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🖥️ Operational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282696" y="33192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Modern browser support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Mobile responsive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Standard web server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035040" y="2971800"/>
            <a:ext cx="2743200" cy="192024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035040" y="2971800"/>
            <a:ext cx="54864" cy="1920240"/>
          </a:xfrm>
          <a:prstGeom prst="rect">
            <a:avLst/>
          </a:prstGeom>
          <a:solidFill>
            <a:srgbClr val="2DC4B2"/>
          </a:solidFill>
          <a:ln w="12700" cap="flat" cmpd="sng">
            <a:solidFill>
              <a:srgbClr val="2DC4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6163056" y="30632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💰 Feasibility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6163056" y="3319272"/>
            <a:ext cx="2542032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Dev cost: BDT 40–50K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Infra: BDT 60–80K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Open-source tools (BDT 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Diagrams  —  Use-Case Diagram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640080"/>
            <a:ext cx="8412480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Diagrams  —  Sequence Diagram: Booking System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425" y="640075"/>
            <a:ext cx="8058924" cy="438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Diagrams  —  Sequence Diagram: Payment System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625" y="640075"/>
            <a:ext cx="7205649" cy="438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Diagrams  —  UML Class Diagram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675" y="594350"/>
            <a:ext cx="6269373" cy="454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CPM  —  Network Diagram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50" y="887275"/>
            <a:ext cx="8309448" cy="355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CPM  —  Float Analysis &amp; Summary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274320" y="685800"/>
            <a:ext cx="8595360" cy="384048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274320" y="6858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1371600" y="68580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2194560" y="68580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3017520" y="68580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3840480" y="68580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4663440" y="685800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5440680" y="685800"/>
            <a:ext cx="777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6217920" y="685800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274320" y="1069848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274320" y="10698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1371600" y="10698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2194560" y="10698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3017520" y="10698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3840480" y="10698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663440" y="10698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5440680" y="10698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217920" y="106984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274320" y="1325880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274320" y="132588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1371600" y="132588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2194560" y="132588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3017520" y="132588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3840480" y="132588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4663440" y="132588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5440680" y="132588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217920" y="132588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274320" y="1581912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274320" y="158191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1371600" y="158191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2194560" y="158191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3017520" y="158191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3840480" y="158191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4663440" y="158191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5440680" y="158191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6217920" y="158191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274320" y="1837944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274320" y="183794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1371600" y="183794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2194560" y="183794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3017520" y="183794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3840480" y="183794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4663440" y="1837944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5440680" y="1837944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6217920" y="183794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274320" y="2093976"/>
            <a:ext cx="8595360" cy="256032"/>
          </a:xfrm>
          <a:prstGeom prst="rect">
            <a:avLst/>
          </a:prstGeom>
          <a:solidFill>
            <a:srgbClr val="FFF3E0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274320" y="209397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1371600" y="209397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2194560" y="209397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3017520" y="209397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3840480" y="209397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4663440" y="209397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5440680" y="209397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6217920" y="209397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274320" y="2350008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274320" y="23500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1371600" y="23500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2194560" y="23500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3017520" y="23500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3840480" y="23500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4663440" y="235000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5440680" y="235000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6217920" y="235000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274320" y="2606040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274320" y="26060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1371600" y="26060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2194560" y="26060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3017520" y="26060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3840480" y="26060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4663440" y="260604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5440680" y="260604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6217920" y="26060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274320" y="2862072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274320" y="286207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1371600" y="286207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2194560" y="286207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3017520" y="286207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3840480" y="286207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4663440" y="286207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5440680" y="286207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6217920" y="286207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274320" y="3118104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274320" y="3118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1371600" y="311810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2194560" y="311810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3017520" y="311810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3840480" y="311810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4663440" y="3118104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5440680" y="3118104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6217920" y="311810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274320" y="3374136"/>
            <a:ext cx="8595360" cy="256032"/>
          </a:xfrm>
          <a:prstGeom prst="rect">
            <a:avLst/>
          </a:prstGeom>
          <a:solidFill>
            <a:srgbClr val="FFF3E0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274320" y="337413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1371600" y="337413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2194560" y="337413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3017520" y="337413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3840480" y="337413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4663440" y="337413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5440680" y="337413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6217920" y="337413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CC6600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274320" y="3630168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274320" y="363016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1371600" y="36301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2194560" y="36301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3017520" y="36301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3840480" y="36301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4663440" y="363016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5440680" y="363016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6217920" y="36301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274320" y="3886200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274320" y="38862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1371600" y="38862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2194560" y="38862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3017520" y="38862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3840480" y="38862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4663440" y="388620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5440680" y="388620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6217920" y="388620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274320" y="4142232"/>
            <a:ext cx="8595360" cy="256032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274320" y="414223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1371600" y="414223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2194560" y="414223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3017520" y="414223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3840480" y="414223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4663440" y="414223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5440680" y="414223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6217920" y="414223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274320" y="4480560"/>
            <a:ext cx="201168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274320" y="44988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Project Duration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274320" y="47091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57 Days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2423160" y="4480560"/>
            <a:ext cx="201168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2423160" y="44988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Critical Path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2423160" y="47091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A→B→C→D→F→G→H→I→K→L→M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4572000" y="4480560"/>
            <a:ext cx="201168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4572000" y="44988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Critical Activities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572000" y="47091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11 / 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6720840" y="4480560"/>
            <a:ext cx="201168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6720840" y="44988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Non-Critical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6720840" y="47091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E, J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PERT  —  Network Diagram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5" y="1268100"/>
            <a:ext cx="8595351" cy="30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PERT  —  Activity Table &amp; Summary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O=Optimistic · M=Most Likely · P=Pessimistic · te=Expected Time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228600" y="685800"/>
            <a:ext cx="8686800" cy="34747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8"/>
          <p:cNvSpPr/>
          <p:nvPr/>
        </p:nvSpPr>
        <p:spPr>
          <a:xfrm>
            <a:off x="228600" y="68580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2788920" y="68580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3703320" y="68580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4343400" y="68580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4983480" y="68580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5623560" y="68580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6446520" y="68580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228600" y="1033272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228600" y="1033272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 – Feasibility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2788920" y="1033272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3703320" y="1033272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4343400" y="1033272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4983480" y="1033272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5623560" y="1033272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4.00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6446520" y="1033272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228600" y="1293876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228600" y="1293876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 – Req. Gathering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2788920" y="1293876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3703320" y="1293876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4343400" y="1293876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4983480" y="1293876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5623560" y="1293876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3.00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6446520" y="1293876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228600" y="1554480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228600" y="1554480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 – Req.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2788920" y="1554480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3703320" y="1554480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4343400" y="1554480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4983480" y="1554480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5623560" y="1554480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3.00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6446520" y="1554480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228600" y="1815084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8"/>
          <p:cNvSpPr/>
          <p:nvPr/>
        </p:nvSpPr>
        <p:spPr>
          <a:xfrm>
            <a:off x="228600" y="1815084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 – System Design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2788920" y="1815084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3703320" y="1815084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4343400" y="1815084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4983480" y="1815084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5623560" y="1815084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6.33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6446520" y="1815084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228600" y="2075688"/>
            <a:ext cx="8686800" cy="260604"/>
          </a:xfrm>
          <a:prstGeom prst="rect">
            <a:avLst/>
          </a:prstGeom>
          <a:solidFill>
            <a:srgbClr val="FFF3E0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8"/>
          <p:cNvSpPr/>
          <p:nvPr/>
        </p:nvSpPr>
        <p:spPr>
          <a:xfrm>
            <a:off x="228600" y="2075688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 – Database Design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2788920" y="2075688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3703320" y="2075688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4343400" y="2075688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4983480" y="2075688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5623560" y="2075688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6.17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6446520" y="2075688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0.83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228600" y="2336292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8"/>
          <p:cNvSpPr/>
          <p:nvPr/>
        </p:nvSpPr>
        <p:spPr>
          <a:xfrm>
            <a:off x="228600" y="2336292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 – UI/UX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2788920" y="2336292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3703320" y="2336292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8"/>
          <p:cNvSpPr/>
          <p:nvPr/>
        </p:nvSpPr>
        <p:spPr>
          <a:xfrm>
            <a:off x="4343400" y="2336292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4983480" y="2336292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5623560" y="2336292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4.00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6446520" y="2336292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228600" y="2596896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228600" y="2596896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 – User Module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2788920" y="2596896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E,F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3703320" y="2596896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4343400" y="2596896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4983480" y="2596896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5623560" y="2596896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10.17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6446520" y="2596896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1.17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228600" y="2857500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8"/>
          <p:cNvSpPr/>
          <p:nvPr/>
        </p:nvSpPr>
        <p:spPr>
          <a:xfrm>
            <a:off x="228600" y="2857500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 – Booking Module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2788920" y="2857500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F,G,C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3703320" y="2857500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4343400" y="2857500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4983480" y="2857500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5623560" y="2857500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8.33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6446520" y="2857500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228600" y="3118104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8"/>
          <p:cNvSpPr/>
          <p:nvPr/>
        </p:nvSpPr>
        <p:spPr>
          <a:xfrm>
            <a:off x="228600" y="3118104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 – Wallet &amp; Escrow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2788920" y="3118104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E,G,H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3703320" y="3118104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4343400" y="3118104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4983480" y="3118104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5623560" y="3118104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10.00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6446520" y="3118104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1.33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228600" y="3378708"/>
            <a:ext cx="8686800" cy="260604"/>
          </a:xfrm>
          <a:prstGeom prst="rect">
            <a:avLst/>
          </a:prstGeom>
          <a:solidFill>
            <a:srgbClr val="FFF3E0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8"/>
          <p:cNvSpPr/>
          <p:nvPr/>
        </p:nvSpPr>
        <p:spPr>
          <a:xfrm>
            <a:off x="228600" y="3378708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 – Rating Feature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2788920" y="3378708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G,H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3703320" y="3378708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4343400" y="3378708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4983480" y="3378708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5623560" y="3378708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4.33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6446520" y="3378708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228600" y="3639312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8"/>
          <p:cNvSpPr/>
          <p:nvPr/>
        </p:nvSpPr>
        <p:spPr>
          <a:xfrm>
            <a:off x="228600" y="3639312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 – Admin Control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2788920" y="3639312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3703320" y="3639312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4343400" y="3639312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4983480" y="3639312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5623560" y="3639312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3.00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6446520" y="3639312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0.33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228600" y="3899916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228600" y="3899916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 – Testing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2788920" y="3899916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3703320" y="3899916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4343400" y="3899916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4983480" y="3899916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5623560" y="3899916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3.00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6446520" y="3899916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0.67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228600" y="4160520"/>
            <a:ext cx="8686800" cy="260604"/>
          </a:xfrm>
          <a:prstGeom prst="rect">
            <a:avLst/>
          </a:prstGeom>
          <a:solidFill>
            <a:srgbClr val="E8F7F4"/>
          </a:solidFill>
          <a:ln w="9525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8"/>
          <p:cNvSpPr/>
          <p:nvPr/>
        </p:nvSpPr>
        <p:spPr>
          <a:xfrm>
            <a:off x="228600" y="4160520"/>
            <a:ext cx="256032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 – Documentation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2788920" y="4160520"/>
            <a:ext cx="9144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3703320" y="4160520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4343400" y="4160520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4983480" y="4160520"/>
            <a:ext cx="64008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5623560" y="4160520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3.17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6446520" y="4160520"/>
            <a:ext cx="82296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0.50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228600" y="4526280"/>
            <a:ext cx="8686800" cy="530352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8"/>
          <p:cNvSpPr/>
          <p:nvPr/>
        </p:nvSpPr>
        <p:spPr>
          <a:xfrm>
            <a:off x="320040" y="45720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PERT Summary: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320040" y="478231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Expected Duration: 58 Days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2651760" y="45720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Critical Path: A→B→C→D→F→G→H→I→K→L→M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2651760" y="4782312"/>
            <a:ext cx="5943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Σ Variance (σ²) on CP: 8.20 days²  |  Std Deviation (σ): 2.86 days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9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Feasibility Study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All dimensions confirmed feasible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/>
          <p:nvPr/>
        </p:nvSpPr>
        <p:spPr>
          <a:xfrm>
            <a:off x="274320" y="960120"/>
            <a:ext cx="1572768" cy="35661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9"/>
          <p:cNvSpPr/>
          <p:nvPr/>
        </p:nvSpPr>
        <p:spPr>
          <a:xfrm>
            <a:off x="274320" y="960120"/>
            <a:ext cx="1572768" cy="54864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9"/>
          <p:cNvSpPr/>
          <p:nvPr/>
        </p:nvSpPr>
        <p:spPr>
          <a:xfrm>
            <a:off x="347472" y="105156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347472" y="137160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 Feasible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9"/>
          <p:cNvSpPr/>
          <p:nvPr/>
        </p:nvSpPr>
        <p:spPr>
          <a:xfrm>
            <a:off x="347472" y="1673352"/>
            <a:ext cx="1444752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 dirty="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HTML/CSS/JS + Python + SQLite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 dirty="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Standard web server sufficient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 dirty="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Moderate, manageable complexity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1993392" y="960120"/>
            <a:ext cx="1572768" cy="35661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9"/>
          <p:cNvSpPr/>
          <p:nvPr/>
        </p:nvSpPr>
        <p:spPr>
          <a:xfrm>
            <a:off x="1993392" y="960120"/>
            <a:ext cx="1572768" cy="54864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9"/>
          <p:cNvSpPr/>
          <p:nvPr/>
        </p:nvSpPr>
        <p:spPr>
          <a:xfrm>
            <a:off x="2066544" y="105156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2066544" y="137160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 Feasible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2066544" y="1673352"/>
            <a:ext cx="1444752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Dev: BDT 40–50K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Infra: BDT 60–80K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Open-source tools (BDT 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9"/>
          <p:cNvSpPr/>
          <p:nvPr/>
        </p:nvSpPr>
        <p:spPr>
          <a:xfrm>
            <a:off x="3712464" y="960120"/>
            <a:ext cx="1572768" cy="35661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9"/>
          <p:cNvSpPr/>
          <p:nvPr/>
        </p:nvSpPr>
        <p:spPr>
          <a:xfrm>
            <a:off x="3712464" y="960120"/>
            <a:ext cx="1572768" cy="54864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9"/>
          <p:cNvSpPr/>
          <p:nvPr/>
        </p:nvSpPr>
        <p:spPr>
          <a:xfrm>
            <a:off x="3785616" y="105156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Operational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9"/>
          <p:cNvSpPr/>
          <p:nvPr/>
        </p:nvSpPr>
        <p:spPr>
          <a:xfrm>
            <a:off x="3785616" y="137160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 Feasible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9"/>
          <p:cNvSpPr/>
          <p:nvPr/>
        </p:nvSpPr>
        <p:spPr>
          <a:xfrm>
            <a:off x="3785616" y="1673352"/>
            <a:ext cx="1444752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High student acceptance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Simple UI for ease of use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Ideal for university campus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9"/>
          <p:cNvSpPr/>
          <p:nvPr/>
        </p:nvSpPr>
        <p:spPr>
          <a:xfrm>
            <a:off x="5431536" y="960120"/>
            <a:ext cx="1572768" cy="35661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9"/>
          <p:cNvSpPr/>
          <p:nvPr/>
        </p:nvSpPr>
        <p:spPr>
          <a:xfrm>
            <a:off x="5431536" y="960120"/>
            <a:ext cx="1572768" cy="54864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9"/>
          <p:cNvSpPr/>
          <p:nvPr/>
        </p:nvSpPr>
        <p:spPr>
          <a:xfrm>
            <a:off x="5504688" y="105156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9"/>
          <p:cNvSpPr/>
          <p:nvPr/>
        </p:nvSpPr>
        <p:spPr>
          <a:xfrm>
            <a:off x="5504688" y="137160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 Feasible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9"/>
          <p:cNvSpPr/>
          <p:nvPr/>
        </p:nvSpPr>
        <p:spPr>
          <a:xfrm>
            <a:off x="5504688" y="1673352"/>
            <a:ext cx="1444752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11-week phased plan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Fits within one semester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CPM confirms 57-day delivery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9"/>
          <p:cNvSpPr/>
          <p:nvPr/>
        </p:nvSpPr>
        <p:spPr>
          <a:xfrm>
            <a:off x="7150608" y="960120"/>
            <a:ext cx="1572768" cy="35661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9"/>
          <p:cNvSpPr/>
          <p:nvPr/>
        </p:nvSpPr>
        <p:spPr>
          <a:xfrm>
            <a:off x="7150608" y="960120"/>
            <a:ext cx="1572768" cy="54864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9"/>
          <p:cNvSpPr/>
          <p:nvPr/>
        </p:nvSpPr>
        <p:spPr>
          <a:xfrm>
            <a:off x="7223760" y="105156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Legal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9"/>
          <p:cNvSpPr/>
          <p:nvPr/>
        </p:nvSpPr>
        <p:spPr>
          <a:xfrm>
            <a:off x="7223760" y="1371600"/>
            <a:ext cx="14264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✓ Feasible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9"/>
          <p:cNvSpPr/>
          <p:nvPr/>
        </p:nvSpPr>
        <p:spPr>
          <a:xfrm>
            <a:off x="7223760" y="1673352"/>
            <a:ext cx="1444752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No data protection violations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Tokens = internal virtual currency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Complies with university policies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0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Schedule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3333549" y="4791456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 dirty="0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Activity Timeline (57 Days – CPM Based)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228600" y="7498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502920" y="7498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Feasibility Analysis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2377440" y="786384"/>
            <a:ext cx="455596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0"/>
          <p:cNvSpPr/>
          <p:nvPr/>
        </p:nvSpPr>
        <p:spPr>
          <a:xfrm>
            <a:off x="2377440" y="786384"/>
            <a:ext cx="4555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228600" y="10241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502920" y="10241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Requirement Gathering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2833036" y="1060704"/>
            <a:ext cx="341697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0"/>
          <p:cNvSpPr/>
          <p:nvPr/>
        </p:nvSpPr>
        <p:spPr>
          <a:xfrm>
            <a:off x="2833036" y="1060704"/>
            <a:ext cx="341697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228600" y="12984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502920" y="12984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Requirement Analysis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3174733" y="1335024"/>
            <a:ext cx="341697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0"/>
          <p:cNvSpPr/>
          <p:nvPr/>
        </p:nvSpPr>
        <p:spPr>
          <a:xfrm>
            <a:off x="3174733" y="1335024"/>
            <a:ext cx="341697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228600" y="15727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502920" y="15727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3516429" y="1609344"/>
            <a:ext cx="683394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0"/>
          <p:cNvSpPr/>
          <p:nvPr/>
        </p:nvSpPr>
        <p:spPr>
          <a:xfrm>
            <a:off x="3516429" y="1609344"/>
            <a:ext cx="68339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228600" y="18470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502920" y="18470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3516429" y="1883664"/>
            <a:ext cx="683394" cy="201168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CC77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0"/>
          <p:cNvSpPr/>
          <p:nvPr/>
        </p:nvSpPr>
        <p:spPr>
          <a:xfrm>
            <a:off x="3516429" y="1883664"/>
            <a:ext cx="68339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228600" y="21214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502920" y="21214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UI/UX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4199823" y="2157984"/>
            <a:ext cx="455596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"/>
          <p:cNvSpPr/>
          <p:nvPr/>
        </p:nvSpPr>
        <p:spPr>
          <a:xfrm>
            <a:off x="4199823" y="2157984"/>
            <a:ext cx="4555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0"/>
          <p:cNvSpPr/>
          <p:nvPr/>
        </p:nvSpPr>
        <p:spPr>
          <a:xfrm>
            <a:off x="228600" y="23957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502920" y="23957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User Module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0"/>
          <p:cNvSpPr/>
          <p:nvPr/>
        </p:nvSpPr>
        <p:spPr>
          <a:xfrm>
            <a:off x="4655419" y="2432304"/>
            <a:ext cx="1138989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0"/>
          <p:cNvSpPr/>
          <p:nvPr/>
        </p:nvSpPr>
        <p:spPr>
          <a:xfrm>
            <a:off x="4655419" y="2432304"/>
            <a:ext cx="113898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228600" y="26700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502920" y="26700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Booking Module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0"/>
          <p:cNvSpPr/>
          <p:nvPr/>
        </p:nvSpPr>
        <p:spPr>
          <a:xfrm>
            <a:off x="5794408" y="2706624"/>
            <a:ext cx="911192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0"/>
          <p:cNvSpPr/>
          <p:nvPr/>
        </p:nvSpPr>
        <p:spPr>
          <a:xfrm>
            <a:off x="5794408" y="2706624"/>
            <a:ext cx="9111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228600" y="29443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502920" y="29443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Wallet &amp; Escrow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0"/>
          <p:cNvSpPr/>
          <p:nvPr/>
        </p:nvSpPr>
        <p:spPr>
          <a:xfrm>
            <a:off x="6705600" y="2980944"/>
            <a:ext cx="1138989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0"/>
          <p:cNvSpPr/>
          <p:nvPr/>
        </p:nvSpPr>
        <p:spPr>
          <a:xfrm>
            <a:off x="6705600" y="2980944"/>
            <a:ext cx="1138989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228600" y="32186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502920" y="32186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Rating Feature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6705600" y="3255264"/>
            <a:ext cx="455596" cy="201168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CC77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0"/>
          <p:cNvSpPr/>
          <p:nvPr/>
        </p:nvSpPr>
        <p:spPr>
          <a:xfrm>
            <a:off x="6705600" y="3255264"/>
            <a:ext cx="4555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228600" y="34930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0"/>
          <p:cNvSpPr/>
          <p:nvPr/>
        </p:nvSpPr>
        <p:spPr>
          <a:xfrm>
            <a:off x="502920" y="34930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Admin Control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7844589" y="3529584"/>
            <a:ext cx="341697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0"/>
          <p:cNvSpPr/>
          <p:nvPr/>
        </p:nvSpPr>
        <p:spPr>
          <a:xfrm>
            <a:off x="7844589" y="3529584"/>
            <a:ext cx="341697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228600" y="37673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502920" y="37673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0"/>
          <p:cNvSpPr/>
          <p:nvPr/>
        </p:nvSpPr>
        <p:spPr>
          <a:xfrm>
            <a:off x="8186286" y="3803904"/>
            <a:ext cx="341697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0"/>
          <p:cNvSpPr/>
          <p:nvPr/>
        </p:nvSpPr>
        <p:spPr>
          <a:xfrm>
            <a:off x="8186286" y="3803904"/>
            <a:ext cx="341697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0"/>
          <p:cNvSpPr/>
          <p:nvPr/>
        </p:nvSpPr>
        <p:spPr>
          <a:xfrm>
            <a:off x="228600" y="40416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0"/>
          <p:cNvSpPr/>
          <p:nvPr/>
        </p:nvSpPr>
        <p:spPr>
          <a:xfrm>
            <a:off x="502920" y="40416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8527983" y="4078224"/>
            <a:ext cx="341697" cy="201168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0"/>
          <p:cNvSpPr/>
          <p:nvPr/>
        </p:nvSpPr>
        <p:spPr>
          <a:xfrm>
            <a:off x="8527983" y="4078224"/>
            <a:ext cx="341697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7" name="Google Shape;657;p20"/>
          <p:cNvCxnSpPr/>
          <p:nvPr/>
        </p:nvCxnSpPr>
        <p:spPr>
          <a:xfrm>
            <a:off x="2377440" y="749808"/>
            <a:ext cx="0" cy="356616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58" name="Google Shape;658;p20"/>
          <p:cNvSpPr/>
          <p:nvPr/>
        </p:nvSpPr>
        <p:spPr>
          <a:xfrm>
            <a:off x="2194560" y="433425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9" name="Google Shape;659;p20"/>
          <p:cNvCxnSpPr/>
          <p:nvPr/>
        </p:nvCxnSpPr>
        <p:spPr>
          <a:xfrm>
            <a:off x="3516429" y="749808"/>
            <a:ext cx="0" cy="356616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60" name="Google Shape;660;p20"/>
          <p:cNvSpPr/>
          <p:nvPr/>
        </p:nvSpPr>
        <p:spPr>
          <a:xfrm>
            <a:off x="3333549" y="433425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1" name="Google Shape;661;p20"/>
          <p:cNvCxnSpPr/>
          <p:nvPr/>
        </p:nvCxnSpPr>
        <p:spPr>
          <a:xfrm>
            <a:off x="4655419" y="749808"/>
            <a:ext cx="0" cy="356616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62" name="Google Shape;662;p20"/>
          <p:cNvSpPr/>
          <p:nvPr/>
        </p:nvSpPr>
        <p:spPr>
          <a:xfrm>
            <a:off x="4472539" y="433425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3" name="Google Shape;663;p20"/>
          <p:cNvCxnSpPr/>
          <p:nvPr/>
        </p:nvCxnSpPr>
        <p:spPr>
          <a:xfrm>
            <a:off x="5794408" y="749808"/>
            <a:ext cx="0" cy="356616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64" name="Google Shape;664;p20"/>
          <p:cNvSpPr/>
          <p:nvPr/>
        </p:nvSpPr>
        <p:spPr>
          <a:xfrm>
            <a:off x="5611528" y="433425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5" name="Google Shape;665;p20"/>
          <p:cNvCxnSpPr/>
          <p:nvPr/>
        </p:nvCxnSpPr>
        <p:spPr>
          <a:xfrm>
            <a:off x="6933398" y="749808"/>
            <a:ext cx="0" cy="356616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66" name="Google Shape;666;p20"/>
          <p:cNvSpPr/>
          <p:nvPr/>
        </p:nvSpPr>
        <p:spPr>
          <a:xfrm>
            <a:off x="6750518" y="433425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7" name="Google Shape;667;p20"/>
          <p:cNvCxnSpPr/>
          <p:nvPr/>
        </p:nvCxnSpPr>
        <p:spPr>
          <a:xfrm>
            <a:off x="8072387" y="749808"/>
            <a:ext cx="0" cy="356616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68" name="Google Shape;668;p20"/>
          <p:cNvSpPr/>
          <p:nvPr/>
        </p:nvSpPr>
        <p:spPr>
          <a:xfrm>
            <a:off x="7889507" y="433425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9" name="Google Shape;669;p20"/>
          <p:cNvCxnSpPr/>
          <p:nvPr/>
        </p:nvCxnSpPr>
        <p:spPr>
          <a:xfrm>
            <a:off x="8869680" y="749808"/>
            <a:ext cx="0" cy="356616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70" name="Google Shape;670;p20"/>
          <p:cNvSpPr/>
          <p:nvPr/>
        </p:nvSpPr>
        <p:spPr>
          <a:xfrm>
            <a:off x="8686800" y="4334256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0"/>
          <p:cNvSpPr/>
          <p:nvPr/>
        </p:nvSpPr>
        <p:spPr>
          <a:xfrm>
            <a:off x="228600" y="4663440"/>
            <a:ext cx="228600" cy="13716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0"/>
          <p:cNvSpPr/>
          <p:nvPr/>
        </p:nvSpPr>
        <p:spPr>
          <a:xfrm>
            <a:off x="502920" y="463600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Critical Path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2011680" y="4663440"/>
            <a:ext cx="228600" cy="137160"/>
          </a:xfrm>
          <a:prstGeom prst="rect">
            <a:avLst/>
          </a:prstGeom>
          <a:solidFill>
            <a:srgbClr val="E8A020"/>
          </a:solidFill>
          <a:ln w="12700" cap="flat" cmpd="sng">
            <a:solidFill>
              <a:srgbClr val="CC77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0"/>
          <p:cNvSpPr/>
          <p:nvPr/>
        </p:nvSpPr>
        <p:spPr>
          <a:xfrm>
            <a:off x="2286000" y="463600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Non-Critical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System Flow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End-to-End Platform Logic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274320" y="914400"/>
            <a:ext cx="457200" cy="59436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1"/>
          <p:cNvSpPr/>
          <p:nvPr/>
        </p:nvSpPr>
        <p:spPr>
          <a:xfrm>
            <a:off x="274320" y="91440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822960" y="914400"/>
            <a:ext cx="8046720" cy="594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1"/>
          <p:cNvSpPr/>
          <p:nvPr/>
        </p:nvSpPr>
        <p:spPr>
          <a:xfrm>
            <a:off x="914400" y="97840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Authentication: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2423160" y="978408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University email registration · Role selection (Tutor/Learner) · Admin approval for tutors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274320" y="1719072"/>
            <a:ext cx="457200" cy="59436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1"/>
          <p:cNvSpPr/>
          <p:nvPr/>
        </p:nvSpPr>
        <p:spPr>
          <a:xfrm>
            <a:off x="274320" y="1719072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1"/>
          <p:cNvSpPr/>
          <p:nvPr/>
        </p:nvSpPr>
        <p:spPr>
          <a:xfrm>
            <a:off x="822960" y="1719072"/>
            <a:ext cx="8046720" cy="594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1"/>
          <p:cNvSpPr/>
          <p:nvPr/>
        </p:nvSpPr>
        <p:spPr>
          <a:xfrm>
            <a:off x="914400" y="178308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Marketplace: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2423160" y="178308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Tutor lists topic · Sets price (tokens) + time slots · Marketplace becomes searchable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274320" y="2523744"/>
            <a:ext cx="457200" cy="59436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1"/>
          <p:cNvSpPr/>
          <p:nvPr/>
        </p:nvSpPr>
        <p:spPr>
          <a:xfrm>
            <a:off x="274320" y="2523744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822960" y="2523744"/>
            <a:ext cx="8046720" cy="594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1"/>
          <p:cNvSpPr/>
          <p:nvPr/>
        </p:nvSpPr>
        <p:spPr>
          <a:xfrm>
            <a:off x="914400" y="258775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Booking &amp; Escrow: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2423160" y="2587752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Learner selects tutor &amp; slot · Tokens deducted &amp; locked in escrow · Booking confirmed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274320" y="3328416"/>
            <a:ext cx="457200" cy="59436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21"/>
          <p:cNvSpPr/>
          <p:nvPr/>
        </p:nvSpPr>
        <p:spPr>
          <a:xfrm>
            <a:off x="274320" y="3328416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1"/>
          <p:cNvSpPr/>
          <p:nvPr/>
        </p:nvSpPr>
        <p:spPr>
          <a:xfrm>
            <a:off x="822960" y="3328416"/>
            <a:ext cx="8046720" cy="594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1"/>
          <p:cNvSpPr/>
          <p:nvPr/>
        </p:nvSpPr>
        <p:spPr>
          <a:xfrm>
            <a:off x="914400" y="3392424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Session Verification: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1"/>
          <p:cNvSpPr/>
          <p:nvPr/>
        </p:nvSpPr>
        <p:spPr>
          <a:xfrm>
            <a:off x="2423160" y="3392424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System generates unique meeting code · Tutor submits code · Code verified → escrow released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274320" y="4133088"/>
            <a:ext cx="457200" cy="59436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1"/>
          <p:cNvSpPr/>
          <p:nvPr/>
        </p:nvSpPr>
        <p:spPr>
          <a:xfrm>
            <a:off x="274320" y="4133088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1"/>
          <p:cNvSpPr/>
          <p:nvPr/>
        </p:nvSpPr>
        <p:spPr>
          <a:xfrm>
            <a:off x="822960" y="4133088"/>
            <a:ext cx="8046720" cy="594360"/>
          </a:xfrm>
          <a:prstGeom prst="rect">
            <a:avLst/>
          </a:prstGeom>
          <a:solidFill>
            <a:srgbClr val="F0F4F8"/>
          </a:solidFill>
          <a:ln w="12700" cap="flat" cmpd="sng">
            <a:solidFill>
              <a:srgbClr val="D0DC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21"/>
          <p:cNvSpPr/>
          <p:nvPr/>
        </p:nvSpPr>
        <p:spPr>
          <a:xfrm>
            <a:off x="914400" y="419709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Rating &amp; Withdrawal: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1"/>
          <p:cNvSpPr/>
          <p:nvPr/>
        </p:nvSpPr>
        <p:spPr>
          <a:xfrm>
            <a:off x="2423160" y="4197096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E3F"/>
                </a:solidFill>
                <a:latin typeface="Calibri"/>
                <a:ea typeface="Calibri"/>
                <a:cs typeface="Calibri"/>
                <a:sym typeface="Calibri"/>
              </a:rPr>
              <a:t>Learner rates tutor · Admin reviews withdrawals · Tutors cash out via bKash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2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1B998B"/>
          </a:solidFill>
          <a:ln w="12700" cap="flat" cmpd="sng">
            <a:solidFill>
              <a:srgbClr val="1B99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2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C4B2"/>
              </a:buClr>
              <a:buSzPts val="1500"/>
              <a:buFont typeface="Calibri"/>
              <a:buNone/>
            </a:pPr>
            <a:r>
              <a:rPr lang="en-US" sz="1500" i="1">
                <a:solidFill>
                  <a:srgbClr val="2DC4B2"/>
                </a:solidFill>
                <a:latin typeface="Calibri"/>
                <a:ea typeface="Calibri"/>
                <a:cs typeface="Calibri"/>
                <a:sym typeface="Calibri"/>
              </a:rPr>
              <a:t>StudyByte successfully addresses the peer tutoring gap in university environments.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2"/>
          <p:cNvSpPr/>
          <p:nvPr/>
        </p:nvSpPr>
        <p:spPr>
          <a:xfrm>
            <a:off x="457200" y="1417320"/>
            <a:ext cx="82296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Verified peer tutoring marketplace using university email authentication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Secure escrow payment protects both tutors and learners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Structured booking &amp; scheduling eliminates manual coordination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Rating &amp; review system ensures continuous quality improvement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 controls maintain platform trust and governance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Economically feasible within BDT 1.5–1.8 lakh · Delivers in 57 days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  |  Group 04  |  CSE 347  |  Spring 2026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Supervisor: Dr. Hosney Jahan  |  East West University, Dhaka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1469</Words>
  <Application>Microsoft Office PowerPoint</Application>
  <PresentationFormat>On-screen Show (16:9)</PresentationFormat>
  <Paragraphs>530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LORD ICHIGO</cp:lastModifiedBy>
  <cp:revision>1</cp:revision>
  <dcterms:modified xsi:type="dcterms:W3CDTF">2026-04-22T00:13:39Z</dcterms:modified>
</cp:coreProperties>
</file>